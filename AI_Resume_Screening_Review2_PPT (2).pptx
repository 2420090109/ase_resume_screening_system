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61" r:id="rId5"/>
    <p:sldId id="267" r:id="rId6"/>
    <p:sldId id="268" r:id="rId7"/>
    <p:sldId id="269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82644"/>
                </a:solidFill>
              </a:defRPr>
            </a:pPr>
            <a:r>
              <a:t>AI-Based Resume Screening and</a:t>
            </a:r>
            <a:br/>
            <a:r>
              <a:t>Candidate Ranking System</a:t>
            </a:r>
          </a:p>
          <a:p>
            <a:pPr>
              <a:defRPr sz="2300" b="1">
                <a:solidFill>
                  <a:srgbClr val="3067B4"/>
                </a:solidFill>
              </a:defRPr>
            </a:pPr>
            <a:r>
              <a:t>Using DevSecOps and MLOps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246120"/>
            <a:ext cx="38404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ENGINEERING CAPSTONE PROJECT –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69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Animesh Balaji Patro • Navaneeth • G. Satya Austin Abner • Syed Musaib</a:t>
            </a:r>
          </a:p>
          <a:p>
            <a:pPr>
              <a:defRPr sz="1500">
                <a:solidFill>
                  <a:srgbClr val="232A34"/>
                </a:solidFill>
              </a:defRPr>
            </a:pPr>
            <a:r>
              <a:t>Guide: Dr. Bhavya Varma Kalidindi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06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067B4"/>
                </a:solidFill>
              </a:defRPr>
            </a:pPr>
            <a:r>
              <a:t>Department of CSE • A.Y.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Problem Statement</a:t>
            </a:r>
          </a:p>
        </p:txBody>
      </p:sp>
      <p:sp>
        <p:nvSpPr>
          <p:cNvPr id="4" name="ProblemBox"/>
          <p:cNvSpPr/>
          <p:nvPr/>
        </p:nvSpPr>
        <p:spPr>
          <a:xfrm>
            <a:off x="502920" y="1450000"/>
            <a:ext cx="11185855" cy="440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B"/>
          <p:cNvSpPr txBox="1"/>
          <p:nvPr/>
        </p:nvSpPr>
        <p:spPr>
          <a:xfrm>
            <a:off x="777240" y="1650000"/>
            <a:ext cx="10635575" cy="4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400"/>
              </a:spcAft>
              <a:defRPr sz="1400">
                <a:solidFill>
                  <a:srgbClr val="232A34"/>
                </a:solidFill>
              </a:defRPr>
            </a:pPr>
            <a:r>
              <a:t>Organizations often receive hundreds of applications for a single job opening, and reviewing every resume by hand does not scale.</a:t>
            </a:r>
          </a:p>
          <a:p>
            <a:pPr>
              <a:spcAft>
                <a:spcPts val="1200"/>
              </a:spcAft>
              <a:defRPr sz="1300">
                <a:solidFill>
                  <a:srgbClr val="232A34"/>
                </a:solidFill>
              </a:defRPr>
            </a:pPr>
            <a:r>
              <a:t>•  Manual screening consumes significant recruiter time.</a:t>
            </a:r>
          </a:p>
          <a:p>
            <a:pPr>
              <a:spcAft>
                <a:spcPts val="1200"/>
              </a:spcAft>
              <a:defRPr sz="1300">
                <a:solidFill>
                  <a:srgbClr val="232A34"/>
                </a:solidFill>
              </a:defRPr>
            </a:pPr>
            <a:r>
              <a:t>•  Human error can lead to inconsistent evaluation between reviewers.</a:t>
            </a:r>
          </a:p>
          <a:p>
            <a:pPr>
              <a:spcAft>
                <a:spcPts val="1200"/>
              </a:spcAft>
              <a:defRPr sz="1300">
                <a:solidFill>
                  <a:srgbClr val="232A34"/>
                </a:solidFill>
              </a:defRPr>
            </a:pPr>
            <a:r>
              <a:t>•  Qualified candidates may be missed due to keyword-only matching.</a:t>
            </a:r>
          </a:p>
          <a:p>
            <a:pPr>
              <a:spcAft>
                <a:spcPts val="1200"/>
              </a:spcAft>
              <a:defRPr sz="1300">
                <a:solidFill>
                  <a:srgbClr val="232A34"/>
                </a:solidFill>
              </a:defRPr>
            </a:pPr>
            <a:r>
              <a:t>•  Recruiters need an objective, scalable, and secure way to rank candidates.</a:t>
            </a:r>
          </a:p>
        </p:txBody>
      </p:sp>
      <p:sp>
        <p:nvSpPr>
          <p:cNvPr id="6" name="FooterBar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ooterText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Objectives</a:t>
            </a:r>
          </a:p>
        </p:txBody>
      </p:sp>
      <p:sp>
        <p:nvSpPr>
          <p:cNvPr id="4" name="Circ"/>
          <p:cNvSpPr/>
          <p:nvPr/>
        </p:nvSpPr>
        <p:spPr>
          <a:xfrm>
            <a:off x="502920" y="1500000"/>
            <a:ext cx="500000" cy="500000"/>
          </a:xfrm>
          <a:prstGeom prst="ellipse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ObjRow0"/>
          <p:cNvSpPr/>
          <p:nvPr/>
        </p:nvSpPr>
        <p:spPr>
          <a:xfrm>
            <a:off x="1150000" y="1520000"/>
            <a:ext cx="10538775" cy="46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B"/>
          <p:cNvSpPr txBox="1"/>
          <p:nvPr/>
        </p:nvSpPr>
        <p:spPr>
          <a:xfrm>
            <a:off x="1350000" y="1520000"/>
            <a:ext cx="10138775" cy="4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Automate resume screening by extracting and analyzing resume content.</a:t>
            </a:r>
          </a:p>
        </p:txBody>
      </p:sp>
      <p:sp>
        <p:nvSpPr>
          <p:cNvPr id="7" name="Circ"/>
          <p:cNvSpPr/>
          <p:nvPr/>
        </p:nvSpPr>
        <p:spPr>
          <a:xfrm>
            <a:off x="502920" y="2350000"/>
            <a:ext cx="500000" cy="500000"/>
          </a:xfrm>
          <a:prstGeom prst="ellipse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ObjRow1"/>
          <p:cNvSpPr/>
          <p:nvPr/>
        </p:nvSpPr>
        <p:spPr>
          <a:xfrm>
            <a:off x="1150000" y="2370000"/>
            <a:ext cx="10538775" cy="46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B"/>
          <p:cNvSpPr txBox="1"/>
          <p:nvPr/>
        </p:nvSpPr>
        <p:spPr>
          <a:xfrm>
            <a:off x="1350000" y="2370000"/>
            <a:ext cx="10138775" cy="4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Rank candidates based on relevance to the job description.</a:t>
            </a:r>
          </a:p>
        </p:txBody>
      </p:sp>
      <p:sp>
        <p:nvSpPr>
          <p:cNvPr id="10" name="Circ"/>
          <p:cNvSpPr/>
          <p:nvPr/>
        </p:nvSpPr>
        <p:spPr>
          <a:xfrm>
            <a:off x="502920" y="3200000"/>
            <a:ext cx="500000" cy="500000"/>
          </a:xfrm>
          <a:prstGeom prst="ellipse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ObjRow2"/>
          <p:cNvSpPr/>
          <p:nvPr/>
        </p:nvSpPr>
        <p:spPr>
          <a:xfrm>
            <a:off x="1150000" y="3220000"/>
            <a:ext cx="10538775" cy="46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B"/>
          <p:cNvSpPr txBox="1"/>
          <p:nvPr/>
        </p:nvSpPr>
        <p:spPr>
          <a:xfrm>
            <a:off x="1350000" y="3220000"/>
            <a:ext cx="10138775" cy="4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Reduce manual effort and overall recruitment time.</a:t>
            </a:r>
          </a:p>
        </p:txBody>
      </p:sp>
      <p:sp>
        <p:nvSpPr>
          <p:cNvPr id="13" name="Circ"/>
          <p:cNvSpPr/>
          <p:nvPr/>
        </p:nvSpPr>
        <p:spPr>
          <a:xfrm>
            <a:off x="502920" y="4050000"/>
            <a:ext cx="500000" cy="500000"/>
          </a:xfrm>
          <a:prstGeom prst="ellipse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ObjRow3"/>
          <p:cNvSpPr/>
          <p:nvPr/>
        </p:nvSpPr>
        <p:spPr>
          <a:xfrm>
            <a:off x="1150000" y="4070000"/>
            <a:ext cx="10538775" cy="46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B"/>
          <p:cNvSpPr txBox="1"/>
          <p:nvPr/>
        </p:nvSpPr>
        <p:spPr>
          <a:xfrm>
            <a:off x="1350000" y="4070000"/>
            <a:ext cx="10138775" cy="4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Demonstrate Agile, DevOps, DevSecOps, and MLOps practices end-to-end.</a:t>
            </a:r>
          </a:p>
        </p:txBody>
      </p:sp>
      <p:sp>
        <p:nvSpPr>
          <p:cNvPr id="16" name="Circ"/>
          <p:cNvSpPr/>
          <p:nvPr/>
        </p:nvSpPr>
        <p:spPr>
          <a:xfrm>
            <a:off x="502920" y="4900000"/>
            <a:ext cx="500000" cy="500000"/>
          </a:xfrm>
          <a:prstGeom prst="ellipse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ObjRow4"/>
          <p:cNvSpPr/>
          <p:nvPr/>
        </p:nvSpPr>
        <p:spPr>
          <a:xfrm>
            <a:off x="1150000" y="4920000"/>
            <a:ext cx="10538775" cy="46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B"/>
          <p:cNvSpPr txBox="1"/>
          <p:nvPr/>
        </p:nvSpPr>
        <p:spPr>
          <a:xfrm>
            <a:off x="1350000" y="4920000"/>
            <a:ext cx="10138775" cy="4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Deploy a secure, scalable, and monitored application.</a:t>
            </a:r>
          </a:p>
        </p:txBody>
      </p:sp>
      <p:sp>
        <p:nvSpPr>
          <p:cNvPr id="19" name="FooterBar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ooterText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067B4"/>
                </a:solidFill>
              </a:defRPr>
            </a:pPr>
            <a:r>
              <a:t>Traditional and baseline recruitment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73736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Receive resumes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17320"/>
            <a:ext cx="173736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Manual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417320"/>
            <a:ext cx="173736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Keyword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417320"/>
            <a:ext cx="173736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Shortlist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417320"/>
            <a:ext cx="173736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Human decision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04288" y="1581912"/>
            <a:ext cx="384048" cy="365760"/>
          </a:xfrm>
          <a:prstGeom prst="rightArrow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4498848" y="1581912"/>
            <a:ext cx="384048" cy="365760"/>
          </a:xfrm>
          <a:prstGeom prst="rightArrow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6693408" y="1581912"/>
            <a:ext cx="384048" cy="365760"/>
          </a:xfrm>
          <a:prstGeom prst="rightArrow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8887968" y="1581912"/>
            <a:ext cx="384048" cy="365760"/>
          </a:xfrm>
          <a:prstGeom prst="rightArrow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Large volumes require significant recruiter time.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Keyword matching may miss synonyms and contextual relationships.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Evaluation can vary between recruiters.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Manual workflows provide limited traceability and repeatability.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Security, CI/CD, deployment, model versioning, and monitoring are often handled separately.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43200"/>
            <a:ext cx="1828800" cy="457200"/>
          </a:xfrm>
          <a:prstGeom prst="roundRect">
            <a:avLst/>
          </a:prstGeom>
          <a:solidFill>
            <a:srgbClr val="BE4646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A34"/>
                </a:solidFill>
              </a:rP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Time-consuming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Inconsistent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Keyword-dependent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Hard to scale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Limited automation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Proposed System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04672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067B4"/>
                </a:solidFill>
              </a:defRPr>
            </a:pPr>
            <a:r>
              <a:t>An AI-based Resume Screening &amp; Candidate Ranking System</a:t>
            </a:r>
          </a:p>
        </p:txBody>
      </p:sp>
      <p:sp>
        <p:nvSpPr>
          <p:cNvPr id="5" name="PropBox"/>
          <p:cNvSpPr/>
          <p:nvPr/>
        </p:nvSpPr>
        <p:spPr>
          <a:xfrm>
            <a:off x="502920" y="1450000"/>
            <a:ext cx="11185855" cy="440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B"/>
          <p:cNvSpPr txBox="1"/>
          <p:nvPr/>
        </p:nvSpPr>
        <p:spPr>
          <a:xfrm>
            <a:off x="777240" y="1650000"/>
            <a:ext cx="10635575" cy="4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400"/>
              </a:spcAft>
              <a:defRPr sz="1400">
                <a:solidFill>
                  <a:srgbClr val="232A34"/>
                </a:solidFill>
              </a:defRPr>
            </a:pPr>
            <a:r>
              <a:t>The system automates the initial stage of recruitment using natural language processing and machine learning, replacing manual keyword-based review.</a:t>
            </a:r>
          </a:p>
          <a:p>
            <a:pPr>
              <a:spcAft>
                <a:spcPts val="1200"/>
              </a:spcAft>
              <a:defRPr sz="1300">
                <a:solidFill>
                  <a:srgbClr val="232A34"/>
                </a:solidFill>
              </a:defRPr>
            </a:pPr>
            <a:r>
              <a:t>•  Extracts skills, education, certifications, and experience automatically from resumes.</a:t>
            </a:r>
          </a:p>
          <a:p>
            <a:pPr>
              <a:spcAft>
                <a:spcPts val="1200"/>
              </a:spcAft>
              <a:defRPr sz="1300">
                <a:solidFill>
                  <a:srgbClr val="232A34"/>
                </a:solidFill>
              </a:defRPr>
            </a:pPr>
            <a:r>
              <a:t>•  Computes an objective relevance score using TF-IDF similarity against the job description.</a:t>
            </a:r>
          </a:p>
          <a:p>
            <a:pPr>
              <a:spcAft>
                <a:spcPts val="1200"/>
              </a:spcAft>
              <a:defRPr sz="1300">
                <a:solidFill>
                  <a:srgbClr val="232A34"/>
                </a:solidFill>
              </a:defRPr>
            </a:pPr>
            <a:r>
              <a:t>•  Produces a ranked candidate list with matched skills and up to 2 key skill gaps.</a:t>
            </a:r>
          </a:p>
          <a:p>
            <a:pPr>
              <a:spcAft>
                <a:spcPts val="1200"/>
              </a:spcAft>
              <a:defRPr sz="1300">
                <a:solidFill>
                  <a:srgbClr val="232A34"/>
                </a:solidFill>
              </a:defRPr>
            </a:pPr>
            <a:r>
              <a:t>•  Secures the pipeline with DevSecOps practices: SonarQube, Trivy, and OWASP ZAP.</a:t>
            </a:r>
          </a:p>
          <a:p>
            <a:pPr>
              <a:spcAft>
                <a:spcPts val="1200"/>
              </a:spcAft>
              <a:defRPr sz="1300">
                <a:solidFill>
                  <a:srgbClr val="232A34"/>
                </a:solidFill>
              </a:defRPr>
            </a:pPr>
            <a:r>
              <a:t>•  Tracks experiments and monitors performance with MLOps tools: MLflow, Prometheus, and Grafana.</a:t>
            </a:r>
          </a:p>
        </p:txBody>
      </p:sp>
      <p:sp>
        <p:nvSpPr>
          <p:cNvPr id="7" name="FooterBar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Text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Technology Used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04672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067B4"/>
                </a:solidFill>
              </a:defRPr>
            </a:pPr>
            <a:r>
              <a:t>Languages, tools, database, and frameworks</a:t>
            </a:r>
          </a:p>
        </p:txBody>
      </p:sp>
      <p:sp>
        <p:nvSpPr>
          <p:cNvPr id="5" name="cell"/>
          <p:cNvSpPr/>
          <p:nvPr/>
        </p:nvSpPr>
        <p:spPr>
          <a:xfrm>
            <a:off x="502920" y="1500000"/>
            <a:ext cx="3200000" cy="480000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B"/>
          <p:cNvSpPr txBox="1"/>
          <p:nvPr/>
        </p:nvSpPr>
        <p:spPr>
          <a:xfrm>
            <a:off x="592920" y="1500000"/>
            <a:ext cx="3020000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Layer</a:t>
            </a:r>
          </a:p>
        </p:txBody>
      </p:sp>
      <p:sp>
        <p:nvSpPr>
          <p:cNvPr id="7" name="cell"/>
          <p:cNvSpPr/>
          <p:nvPr/>
        </p:nvSpPr>
        <p:spPr>
          <a:xfrm>
            <a:off x="3702920" y="1500000"/>
            <a:ext cx="7985855" cy="480000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B"/>
          <p:cNvSpPr txBox="1"/>
          <p:nvPr/>
        </p:nvSpPr>
        <p:spPr>
          <a:xfrm>
            <a:off x="3792920" y="1500000"/>
            <a:ext cx="7805855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Technology</a:t>
            </a:r>
          </a:p>
        </p:txBody>
      </p:sp>
      <p:sp>
        <p:nvSpPr>
          <p:cNvPr id="9" name="cell"/>
          <p:cNvSpPr/>
          <p:nvPr/>
        </p:nvSpPr>
        <p:spPr>
          <a:xfrm>
            <a:off x="502920" y="1980000"/>
            <a:ext cx="3200000" cy="4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B"/>
          <p:cNvSpPr txBox="1"/>
          <p:nvPr/>
        </p:nvSpPr>
        <p:spPr>
          <a:xfrm>
            <a:off x="592920" y="1980000"/>
            <a:ext cx="3020000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Language / ML</a:t>
            </a:r>
          </a:p>
        </p:txBody>
      </p:sp>
      <p:sp>
        <p:nvSpPr>
          <p:cNvPr id="11" name="cell"/>
          <p:cNvSpPr/>
          <p:nvPr/>
        </p:nvSpPr>
        <p:spPr>
          <a:xfrm>
            <a:off x="3702920" y="1980000"/>
            <a:ext cx="7985855" cy="4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B"/>
          <p:cNvSpPr txBox="1"/>
          <p:nvPr/>
        </p:nvSpPr>
        <p:spPr>
          <a:xfrm>
            <a:off x="3792920" y="1980000"/>
            <a:ext cx="7805855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Python • NLP • TF-IDF • Machine Learning</a:t>
            </a:r>
          </a:p>
        </p:txBody>
      </p:sp>
      <p:sp>
        <p:nvSpPr>
          <p:cNvPr id="13" name="cell"/>
          <p:cNvSpPr/>
          <p:nvPr/>
        </p:nvSpPr>
        <p:spPr>
          <a:xfrm>
            <a:off x="502920" y="2460000"/>
            <a:ext cx="3200000" cy="4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B"/>
          <p:cNvSpPr txBox="1"/>
          <p:nvPr/>
        </p:nvSpPr>
        <p:spPr>
          <a:xfrm>
            <a:off x="592920" y="2460000"/>
            <a:ext cx="3020000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Backend</a:t>
            </a:r>
          </a:p>
        </p:txBody>
      </p:sp>
      <p:sp>
        <p:nvSpPr>
          <p:cNvPr id="15" name="cell"/>
          <p:cNvSpPr/>
          <p:nvPr/>
        </p:nvSpPr>
        <p:spPr>
          <a:xfrm>
            <a:off x="3702920" y="2460000"/>
            <a:ext cx="7985855" cy="4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B"/>
          <p:cNvSpPr txBox="1"/>
          <p:nvPr/>
        </p:nvSpPr>
        <p:spPr>
          <a:xfrm>
            <a:off x="3792920" y="2460000"/>
            <a:ext cx="7805855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Flask API</a:t>
            </a:r>
          </a:p>
        </p:txBody>
      </p:sp>
      <p:sp>
        <p:nvSpPr>
          <p:cNvPr id="17" name="cell"/>
          <p:cNvSpPr/>
          <p:nvPr/>
        </p:nvSpPr>
        <p:spPr>
          <a:xfrm>
            <a:off x="502920" y="2940000"/>
            <a:ext cx="3200000" cy="4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B"/>
          <p:cNvSpPr txBox="1"/>
          <p:nvPr/>
        </p:nvSpPr>
        <p:spPr>
          <a:xfrm>
            <a:off x="592920" y="2940000"/>
            <a:ext cx="3020000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Input</a:t>
            </a:r>
          </a:p>
        </p:txBody>
      </p:sp>
      <p:sp>
        <p:nvSpPr>
          <p:cNvPr id="19" name="cell"/>
          <p:cNvSpPr/>
          <p:nvPr/>
        </p:nvSpPr>
        <p:spPr>
          <a:xfrm>
            <a:off x="3702920" y="2940000"/>
            <a:ext cx="7985855" cy="4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B"/>
          <p:cNvSpPr txBox="1"/>
          <p:nvPr/>
        </p:nvSpPr>
        <p:spPr>
          <a:xfrm>
            <a:off x="3792920" y="2940000"/>
            <a:ext cx="7805855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PDF / DOCX resumes</a:t>
            </a:r>
          </a:p>
        </p:txBody>
      </p:sp>
      <p:sp>
        <p:nvSpPr>
          <p:cNvPr id="21" name="cell"/>
          <p:cNvSpPr/>
          <p:nvPr/>
        </p:nvSpPr>
        <p:spPr>
          <a:xfrm>
            <a:off x="502920" y="3420000"/>
            <a:ext cx="3200000" cy="4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B"/>
          <p:cNvSpPr txBox="1"/>
          <p:nvPr/>
        </p:nvSpPr>
        <p:spPr>
          <a:xfrm>
            <a:off x="592920" y="3420000"/>
            <a:ext cx="3020000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Version Control</a:t>
            </a:r>
          </a:p>
        </p:txBody>
      </p:sp>
      <p:sp>
        <p:nvSpPr>
          <p:cNvPr id="23" name="cell"/>
          <p:cNvSpPr/>
          <p:nvPr/>
        </p:nvSpPr>
        <p:spPr>
          <a:xfrm>
            <a:off x="3702920" y="3420000"/>
            <a:ext cx="7985855" cy="4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B"/>
          <p:cNvSpPr txBox="1"/>
          <p:nvPr/>
        </p:nvSpPr>
        <p:spPr>
          <a:xfrm>
            <a:off x="3792920" y="3420000"/>
            <a:ext cx="7805855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Git • GitHub</a:t>
            </a:r>
          </a:p>
        </p:txBody>
      </p:sp>
      <p:sp>
        <p:nvSpPr>
          <p:cNvPr id="25" name="cell"/>
          <p:cNvSpPr/>
          <p:nvPr/>
        </p:nvSpPr>
        <p:spPr>
          <a:xfrm>
            <a:off x="502920" y="3900000"/>
            <a:ext cx="3200000" cy="4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B"/>
          <p:cNvSpPr txBox="1"/>
          <p:nvPr/>
        </p:nvSpPr>
        <p:spPr>
          <a:xfrm>
            <a:off x="592920" y="3900000"/>
            <a:ext cx="3020000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CI/CD</a:t>
            </a:r>
          </a:p>
        </p:txBody>
      </p:sp>
      <p:sp>
        <p:nvSpPr>
          <p:cNvPr id="27" name="cell"/>
          <p:cNvSpPr/>
          <p:nvPr/>
        </p:nvSpPr>
        <p:spPr>
          <a:xfrm>
            <a:off x="3702920" y="3900000"/>
            <a:ext cx="7985855" cy="4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B"/>
          <p:cNvSpPr txBox="1"/>
          <p:nvPr/>
        </p:nvSpPr>
        <p:spPr>
          <a:xfrm>
            <a:off x="3792920" y="3900000"/>
            <a:ext cx="7805855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GitHub Actions</a:t>
            </a:r>
          </a:p>
        </p:txBody>
      </p:sp>
      <p:sp>
        <p:nvSpPr>
          <p:cNvPr id="29" name="cell"/>
          <p:cNvSpPr/>
          <p:nvPr/>
        </p:nvSpPr>
        <p:spPr>
          <a:xfrm>
            <a:off x="502920" y="4380000"/>
            <a:ext cx="3200000" cy="4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B"/>
          <p:cNvSpPr txBox="1"/>
          <p:nvPr/>
        </p:nvSpPr>
        <p:spPr>
          <a:xfrm>
            <a:off x="592920" y="4380000"/>
            <a:ext cx="3020000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Deployment</a:t>
            </a:r>
          </a:p>
        </p:txBody>
      </p:sp>
      <p:sp>
        <p:nvSpPr>
          <p:cNvPr id="31" name="cell"/>
          <p:cNvSpPr/>
          <p:nvPr/>
        </p:nvSpPr>
        <p:spPr>
          <a:xfrm>
            <a:off x="3702920" y="4380000"/>
            <a:ext cx="7985855" cy="4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B"/>
          <p:cNvSpPr txBox="1"/>
          <p:nvPr/>
        </p:nvSpPr>
        <p:spPr>
          <a:xfrm>
            <a:off x="3792920" y="4380000"/>
            <a:ext cx="7805855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Docker • Kubernetes • Minikube</a:t>
            </a:r>
          </a:p>
        </p:txBody>
      </p:sp>
      <p:sp>
        <p:nvSpPr>
          <p:cNvPr id="33" name="cell"/>
          <p:cNvSpPr/>
          <p:nvPr/>
        </p:nvSpPr>
        <p:spPr>
          <a:xfrm>
            <a:off x="502920" y="4860000"/>
            <a:ext cx="3200000" cy="4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B"/>
          <p:cNvSpPr txBox="1"/>
          <p:nvPr/>
        </p:nvSpPr>
        <p:spPr>
          <a:xfrm>
            <a:off x="592920" y="4860000"/>
            <a:ext cx="3020000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Security</a:t>
            </a:r>
          </a:p>
        </p:txBody>
      </p:sp>
      <p:sp>
        <p:nvSpPr>
          <p:cNvPr id="35" name="cell"/>
          <p:cNvSpPr/>
          <p:nvPr/>
        </p:nvSpPr>
        <p:spPr>
          <a:xfrm>
            <a:off x="3702920" y="4860000"/>
            <a:ext cx="7985855" cy="4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B"/>
          <p:cNvSpPr txBox="1"/>
          <p:nvPr/>
        </p:nvSpPr>
        <p:spPr>
          <a:xfrm>
            <a:off x="3792920" y="4860000"/>
            <a:ext cx="7805855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SonarQube • Trivy • OWASP ZAP</a:t>
            </a:r>
          </a:p>
        </p:txBody>
      </p:sp>
      <p:sp>
        <p:nvSpPr>
          <p:cNvPr id="37" name="cell"/>
          <p:cNvSpPr/>
          <p:nvPr/>
        </p:nvSpPr>
        <p:spPr>
          <a:xfrm>
            <a:off x="502920" y="5340000"/>
            <a:ext cx="3200000" cy="4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B"/>
          <p:cNvSpPr txBox="1"/>
          <p:nvPr/>
        </p:nvSpPr>
        <p:spPr>
          <a:xfrm>
            <a:off x="592920" y="5340000"/>
            <a:ext cx="3020000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MLOps</a:t>
            </a:r>
          </a:p>
        </p:txBody>
      </p:sp>
      <p:sp>
        <p:nvSpPr>
          <p:cNvPr id="39" name="cell"/>
          <p:cNvSpPr/>
          <p:nvPr/>
        </p:nvSpPr>
        <p:spPr>
          <a:xfrm>
            <a:off x="3702920" y="5340000"/>
            <a:ext cx="7985855" cy="48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B"/>
          <p:cNvSpPr txBox="1"/>
          <p:nvPr/>
        </p:nvSpPr>
        <p:spPr>
          <a:xfrm>
            <a:off x="3792920" y="5340000"/>
            <a:ext cx="7805855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DVC • MLflow</a:t>
            </a:r>
          </a:p>
        </p:txBody>
      </p:sp>
      <p:sp>
        <p:nvSpPr>
          <p:cNvPr id="41" name="cell"/>
          <p:cNvSpPr/>
          <p:nvPr/>
        </p:nvSpPr>
        <p:spPr>
          <a:xfrm>
            <a:off x="502920" y="5820000"/>
            <a:ext cx="3200000" cy="4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B"/>
          <p:cNvSpPr txBox="1"/>
          <p:nvPr/>
        </p:nvSpPr>
        <p:spPr>
          <a:xfrm>
            <a:off x="592920" y="5820000"/>
            <a:ext cx="3020000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Monitoring</a:t>
            </a:r>
          </a:p>
        </p:txBody>
      </p:sp>
      <p:sp>
        <p:nvSpPr>
          <p:cNvPr id="43" name="cell"/>
          <p:cNvSpPr/>
          <p:nvPr/>
        </p:nvSpPr>
        <p:spPr>
          <a:xfrm>
            <a:off x="3702920" y="5820000"/>
            <a:ext cx="7985855" cy="4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B"/>
          <p:cNvSpPr txBox="1"/>
          <p:nvPr/>
        </p:nvSpPr>
        <p:spPr>
          <a:xfrm>
            <a:off x="3792920" y="5820000"/>
            <a:ext cx="7805855" cy="48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232A34"/>
                </a:solidFill>
              </a:defRPr>
            </a:pPr>
            <a:r>
              <a:t>Prometheus • Grafana</a:t>
            </a:r>
          </a:p>
        </p:txBody>
      </p:sp>
      <p:sp>
        <p:nvSpPr>
          <p:cNvPr id="45" name="FooterBar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FooterText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Workflow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04672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067B4"/>
                </a:solidFill>
              </a:defRPr>
            </a:pPr>
            <a:r>
              <a:t>How the system processes a resume, step by step</a:t>
            </a:r>
          </a:p>
        </p:txBody>
      </p:sp>
      <p:sp>
        <p:nvSpPr>
          <p:cNvPr id="5" name="Circ"/>
          <p:cNvSpPr/>
          <p:nvPr/>
        </p:nvSpPr>
        <p:spPr>
          <a:xfrm>
            <a:off x="1013338" y="1570000"/>
            <a:ext cx="380000" cy="380000"/>
          </a:xfrm>
          <a:prstGeom prst="ellipse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R"/>
          <p:cNvSpPr/>
          <p:nvPr/>
        </p:nvSpPr>
        <p:spPr>
          <a:xfrm>
            <a:off x="502920" y="2000000"/>
            <a:ext cx="1400836" cy="1050000"/>
          </a:xfrm>
          <a:prstGeom prst="roundRect">
            <a:avLst/>
          </a:prstGeom>
          <a:solidFill>
            <a:srgbClr val="3067B4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Resume Upload</a:t>
            </a:r>
          </a:p>
        </p:txBody>
      </p:sp>
      <p:sp>
        <p:nvSpPr>
          <p:cNvPr id="7" name="Arrow"/>
          <p:cNvSpPr txBox="1"/>
          <p:nvPr/>
        </p:nvSpPr>
        <p:spPr>
          <a:xfrm>
            <a:off x="1903756" y="2000000"/>
            <a:ext cx="230000" cy="105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400" b="1">
                <a:solidFill>
                  <a:srgbClr val="5A5A5A"/>
                </a:solidFill>
              </a:rPr>
              <a:t>→</a:t>
            </a:r>
          </a:p>
        </p:txBody>
      </p:sp>
      <p:sp>
        <p:nvSpPr>
          <p:cNvPr id="8" name="Circ"/>
          <p:cNvSpPr/>
          <p:nvPr/>
        </p:nvSpPr>
        <p:spPr>
          <a:xfrm>
            <a:off x="2644174" y="1570000"/>
            <a:ext cx="380000" cy="380000"/>
          </a:xfrm>
          <a:prstGeom prst="ellipse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R"/>
          <p:cNvSpPr/>
          <p:nvPr/>
        </p:nvSpPr>
        <p:spPr>
          <a:xfrm>
            <a:off x="2133756" y="2000000"/>
            <a:ext cx="1400836" cy="1050000"/>
          </a:xfrm>
          <a:prstGeom prst="roundRect">
            <a:avLst/>
          </a:prstGeom>
          <a:solidFill>
            <a:srgbClr val="BE4646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Text Extraction</a:t>
            </a:r>
          </a:p>
        </p:txBody>
      </p:sp>
      <p:sp>
        <p:nvSpPr>
          <p:cNvPr id="10" name="Arrow"/>
          <p:cNvSpPr txBox="1"/>
          <p:nvPr/>
        </p:nvSpPr>
        <p:spPr>
          <a:xfrm>
            <a:off x="3534592" y="2000000"/>
            <a:ext cx="230000" cy="105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400" b="1">
                <a:solidFill>
                  <a:srgbClr val="5A5A5A"/>
                </a:solidFill>
              </a:rPr>
              <a:t>→</a:t>
            </a:r>
          </a:p>
        </p:txBody>
      </p:sp>
      <p:sp>
        <p:nvSpPr>
          <p:cNvPr id="11" name="Circ"/>
          <p:cNvSpPr/>
          <p:nvPr/>
        </p:nvSpPr>
        <p:spPr>
          <a:xfrm>
            <a:off x="4275010" y="1570000"/>
            <a:ext cx="380000" cy="380000"/>
          </a:xfrm>
          <a:prstGeom prst="ellipse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RR"/>
          <p:cNvSpPr/>
          <p:nvPr/>
        </p:nvSpPr>
        <p:spPr>
          <a:xfrm>
            <a:off x="3764592" y="2000000"/>
            <a:ext cx="1400836" cy="1050000"/>
          </a:xfrm>
          <a:prstGeom prst="roundRect">
            <a:avLst/>
          </a:prstGeom>
          <a:solidFill>
            <a:srgbClr val="2D8C5F"/>
          </a:solidFill>
          <a:ln>
            <a:solidFill>
              <a:srgbClr val="2D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Preprocessing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5165428" y="2000000"/>
            <a:ext cx="230000" cy="105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400" b="1">
                <a:solidFill>
                  <a:srgbClr val="5A5A5A"/>
                </a:solidFill>
              </a:rPr>
              <a:t>→</a:t>
            </a:r>
          </a:p>
        </p:txBody>
      </p:sp>
      <p:sp>
        <p:nvSpPr>
          <p:cNvPr id="14" name="Circ"/>
          <p:cNvSpPr/>
          <p:nvPr/>
        </p:nvSpPr>
        <p:spPr>
          <a:xfrm>
            <a:off x="5905846" y="1570000"/>
            <a:ext cx="380000" cy="380000"/>
          </a:xfrm>
          <a:prstGeom prst="ellipse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RR"/>
          <p:cNvSpPr/>
          <p:nvPr/>
        </p:nvSpPr>
        <p:spPr>
          <a:xfrm>
            <a:off x="5395428" y="2000000"/>
            <a:ext cx="1400836" cy="1050000"/>
          </a:xfrm>
          <a:prstGeom prst="roundRect">
            <a:avLst/>
          </a:prstGeom>
          <a:solidFill>
            <a:srgbClr val="DC8228"/>
          </a:solidFill>
          <a:ln>
            <a:solidFill>
              <a:srgbClr val="DC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TF-IDF Vectorization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6796264" y="2000000"/>
            <a:ext cx="230000" cy="105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400" b="1">
                <a:solidFill>
                  <a:srgbClr val="5A5A5A"/>
                </a:solidFill>
              </a:rPr>
              <a:t>→</a:t>
            </a:r>
          </a:p>
        </p:txBody>
      </p:sp>
      <p:sp>
        <p:nvSpPr>
          <p:cNvPr id="17" name="Circ"/>
          <p:cNvSpPr/>
          <p:nvPr/>
        </p:nvSpPr>
        <p:spPr>
          <a:xfrm>
            <a:off x="7536682" y="1570000"/>
            <a:ext cx="380000" cy="380000"/>
          </a:xfrm>
          <a:prstGeom prst="ellipse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RR"/>
          <p:cNvSpPr/>
          <p:nvPr/>
        </p:nvSpPr>
        <p:spPr>
          <a:xfrm>
            <a:off x="7026264" y="2000000"/>
            <a:ext cx="1400836" cy="1050000"/>
          </a:xfrm>
          <a:prstGeom prst="roundRect">
            <a:avLst/>
          </a:prstGeom>
          <a:solidFill>
            <a:srgbClr val="3067B4"/>
          </a:solidFill>
          <a:ln>
            <a:solidFill>
              <a:srgbClr val="3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Similarity Scoring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8427100" y="2000000"/>
            <a:ext cx="230000" cy="105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400" b="1">
                <a:solidFill>
                  <a:srgbClr val="5A5A5A"/>
                </a:solidFill>
              </a:rPr>
              <a:t>→</a:t>
            </a:r>
          </a:p>
        </p:txBody>
      </p:sp>
      <p:sp>
        <p:nvSpPr>
          <p:cNvPr id="20" name="Circ"/>
          <p:cNvSpPr/>
          <p:nvPr/>
        </p:nvSpPr>
        <p:spPr>
          <a:xfrm>
            <a:off x="9167518" y="1570000"/>
            <a:ext cx="380000" cy="380000"/>
          </a:xfrm>
          <a:prstGeom prst="ellipse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RR"/>
          <p:cNvSpPr/>
          <p:nvPr/>
        </p:nvSpPr>
        <p:spPr>
          <a:xfrm>
            <a:off x="8657100" y="2000000"/>
            <a:ext cx="1400836" cy="1050000"/>
          </a:xfrm>
          <a:prstGeom prst="roundRect">
            <a:avLst/>
          </a:prstGeom>
          <a:solidFill>
            <a:srgbClr val="BE4646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Candidate Ranking</a:t>
            </a:r>
          </a:p>
        </p:txBody>
      </p:sp>
      <p:sp>
        <p:nvSpPr>
          <p:cNvPr id="22" name="Arrow"/>
          <p:cNvSpPr txBox="1"/>
          <p:nvPr/>
        </p:nvSpPr>
        <p:spPr>
          <a:xfrm>
            <a:off x="10057936" y="2000000"/>
            <a:ext cx="230000" cy="105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400" b="1">
                <a:solidFill>
                  <a:srgbClr val="5A5A5A"/>
                </a:solidFill>
              </a:rPr>
              <a:t>→</a:t>
            </a:r>
          </a:p>
        </p:txBody>
      </p:sp>
      <p:sp>
        <p:nvSpPr>
          <p:cNvPr id="23" name="Circ"/>
          <p:cNvSpPr/>
          <p:nvPr/>
        </p:nvSpPr>
        <p:spPr>
          <a:xfrm>
            <a:off x="10798354" y="1570000"/>
            <a:ext cx="380000" cy="380000"/>
          </a:xfrm>
          <a:prstGeom prst="ellipse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4" name="RR"/>
          <p:cNvSpPr/>
          <p:nvPr/>
        </p:nvSpPr>
        <p:spPr>
          <a:xfrm>
            <a:off x="10287936" y="2000000"/>
            <a:ext cx="1400836" cy="1050000"/>
          </a:xfrm>
          <a:prstGeom prst="roundRect">
            <a:avLst/>
          </a:prstGeom>
          <a:solidFill>
            <a:srgbClr val="2D8C5F"/>
          </a:solidFill>
          <a:ln>
            <a:solidFill>
              <a:srgbClr val="2D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Recruiter Dashboard</a:t>
            </a:r>
          </a:p>
        </p:txBody>
      </p:sp>
      <p:sp>
        <p:nvSpPr>
          <p:cNvPr id="25" name="TB"/>
          <p:cNvSpPr txBox="1"/>
          <p:nvPr/>
        </p:nvSpPr>
        <p:spPr>
          <a:xfrm>
            <a:off x="777240" y="3550000"/>
            <a:ext cx="10635575" cy="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Resumes are accepted in PDF/DOCX format; the trained model is exposed through a Flask API and integrated with a recruiter web interface. Development follows Scrum with automated testing and CI/CD via GitHub Actions.</a:t>
            </a:r>
          </a:p>
        </p:txBody>
      </p:sp>
      <p:sp>
        <p:nvSpPr>
          <p:cNvPr id="26" name="FooterBar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ooterText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Modules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04672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067B4"/>
                </a:solidFill>
              </a:defRPr>
            </a:pPr>
            <a:r>
              <a:t>Main modules and features of the system</a:t>
            </a:r>
          </a:p>
        </p:txBody>
      </p:sp>
      <p:sp>
        <p:nvSpPr>
          <p:cNvPr id="5" name="ModCard"/>
          <p:cNvSpPr/>
          <p:nvPr/>
        </p:nvSpPr>
        <p:spPr>
          <a:xfrm>
            <a:off x="340847" y="1500000"/>
            <a:ext cx="3750000" cy="215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ModBar"/>
          <p:cNvSpPr/>
          <p:nvPr/>
        </p:nvSpPr>
        <p:spPr>
          <a:xfrm>
            <a:off x="340847" y="1500000"/>
            <a:ext cx="3750000" cy="90000"/>
          </a:xfrm>
          <a:prstGeom prst="rect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B"/>
          <p:cNvSpPr txBox="1"/>
          <p:nvPr/>
        </p:nvSpPr>
        <p:spPr>
          <a:xfrm>
            <a:off x="560847" y="1660000"/>
            <a:ext cx="3310000" cy="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50" b="1">
                <a:solidFill>
                  <a:srgbClr val="182644"/>
                </a:solidFill>
              </a:defRPr>
            </a:pPr>
            <a:r>
              <a:t>Resume Processing Engine</a:t>
            </a:r>
          </a:p>
        </p:txBody>
      </p:sp>
      <p:sp>
        <p:nvSpPr>
          <p:cNvPr id="8" name="TB"/>
          <p:cNvSpPr txBox="1"/>
          <p:nvPr/>
        </p:nvSpPr>
        <p:spPr>
          <a:xfrm>
            <a:off x="560847" y="2120000"/>
            <a:ext cx="3310000" cy="145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Parses resumes, extracts skills/education/experience, computes TF-IDF similarity and ranking.</a:t>
            </a:r>
          </a:p>
        </p:txBody>
      </p:sp>
      <p:sp>
        <p:nvSpPr>
          <p:cNvPr id="9" name="ModCard"/>
          <p:cNvSpPr/>
          <p:nvPr/>
        </p:nvSpPr>
        <p:spPr>
          <a:xfrm>
            <a:off x="4220847" y="1500000"/>
            <a:ext cx="3750000" cy="215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ModBar"/>
          <p:cNvSpPr/>
          <p:nvPr/>
        </p:nvSpPr>
        <p:spPr>
          <a:xfrm>
            <a:off x="4220847" y="1500000"/>
            <a:ext cx="3750000" cy="9000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B"/>
          <p:cNvSpPr txBox="1"/>
          <p:nvPr/>
        </p:nvSpPr>
        <p:spPr>
          <a:xfrm>
            <a:off x="4440847" y="1660000"/>
            <a:ext cx="3310000" cy="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50" b="1">
                <a:solidFill>
                  <a:srgbClr val="182644"/>
                </a:solidFill>
              </a:defRPr>
            </a:pPr>
            <a:r>
              <a:t>Recruiter Dashboard</a:t>
            </a:r>
          </a:p>
        </p:txBody>
      </p:sp>
      <p:sp>
        <p:nvSpPr>
          <p:cNvPr id="12" name="TB"/>
          <p:cNvSpPr txBox="1"/>
          <p:nvPr/>
        </p:nvSpPr>
        <p:spPr>
          <a:xfrm>
            <a:off x="4440847" y="2120000"/>
            <a:ext cx="3310000" cy="145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Displays ranked candidates with matched skills and up to 2 key skill gaps.</a:t>
            </a:r>
          </a:p>
        </p:txBody>
      </p:sp>
      <p:sp>
        <p:nvSpPr>
          <p:cNvPr id="13" name="ModCard"/>
          <p:cNvSpPr/>
          <p:nvPr/>
        </p:nvSpPr>
        <p:spPr>
          <a:xfrm>
            <a:off x="8100847" y="1500000"/>
            <a:ext cx="3750000" cy="215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ModBar"/>
          <p:cNvSpPr/>
          <p:nvPr/>
        </p:nvSpPr>
        <p:spPr>
          <a:xfrm>
            <a:off x="8100847" y="1500000"/>
            <a:ext cx="3750000" cy="9000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B"/>
          <p:cNvSpPr txBox="1"/>
          <p:nvPr/>
        </p:nvSpPr>
        <p:spPr>
          <a:xfrm>
            <a:off x="8320847" y="1660000"/>
            <a:ext cx="3310000" cy="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50" b="1">
                <a:solidFill>
                  <a:srgbClr val="182644"/>
                </a:solidFill>
              </a:defRPr>
            </a:pPr>
            <a:r>
              <a:t>DevSecOps Pipeline</a:t>
            </a:r>
          </a:p>
        </p:txBody>
      </p:sp>
      <p:sp>
        <p:nvSpPr>
          <p:cNvPr id="16" name="TB"/>
          <p:cNvSpPr txBox="1"/>
          <p:nvPr/>
        </p:nvSpPr>
        <p:spPr>
          <a:xfrm>
            <a:off x="8320847" y="2120000"/>
            <a:ext cx="3310000" cy="145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Git/GitHub, Docker, GitHub Actions, Kubernetes, SonarQube, Trivy, OWASP ZAP.</a:t>
            </a:r>
          </a:p>
        </p:txBody>
      </p:sp>
      <p:sp>
        <p:nvSpPr>
          <p:cNvPr id="17" name="ModCard"/>
          <p:cNvSpPr/>
          <p:nvPr/>
        </p:nvSpPr>
        <p:spPr>
          <a:xfrm>
            <a:off x="340847" y="3800000"/>
            <a:ext cx="3750000" cy="215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odBar"/>
          <p:cNvSpPr/>
          <p:nvPr/>
        </p:nvSpPr>
        <p:spPr>
          <a:xfrm>
            <a:off x="340847" y="3800000"/>
            <a:ext cx="3750000" cy="9000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B"/>
          <p:cNvSpPr txBox="1"/>
          <p:nvPr/>
        </p:nvSpPr>
        <p:spPr>
          <a:xfrm>
            <a:off x="560847" y="3960000"/>
            <a:ext cx="3310000" cy="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50" b="1">
                <a:solidFill>
                  <a:srgbClr val="182644"/>
                </a:solidFill>
              </a:defRPr>
            </a:pPr>
            <a:r>
              <a:t>MLOps Pipeline</a:t>
            </a:r>
          </a:p>
        </p:txBody>
      </p:sp>
      <p:sp>
        <p:nvSpPr>
          <p:cNvPr id="20" name="TB"/>
          <p:cNvSpPr txBox="1"/>
          <p:nvPr/>
        </p:nvSpPr>
        <p:spPr>
          <a:xfrm>
            <a:off x="560847" y="4420000"/>
            <a:ext cx="3310000" cy="145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DVC dataset versioning, MLflow experiment tracking and model registry.</a:t>
            </a:r>
          </a:p>
        </p:txBody>
      </p:sp>
      <p:sp>
        <p:nvSpPr>
          <p:cNvPr id="21" name="ModCard"/>
          <p:cNvSpPr/>
          <p:nvPr/>
        </p:nvSpPr>
        <p:spPr>
          <a:xfrm>
            <a:off x="4220847" y="3800000"/>
            <a:ext cx="3750000" cy="215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ModBar"/>
          <p:cNvSpPr/>
          <p:nvPr/>
        </p:nvSpPr>
        <p:spPr>
          <a:xfrm>
            <a:off x="4220847" y="3800000"/>
            <a:ext cx="3750000" cy="90000"/>
          </a:xfrm>
          <a:prstGeom prst="rect">
            <a:avLst/>
          </a:prstGeom>
          <a:solidFill>
            <a:srgbClr val="30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B"/>
          <p:cNvSpPr txBox="1"/>
          <p:nvPr/>
        </p:nvSpPr>
        <p:spPr>
          <a:xfrm>
            <a:off x="4440847" y="3960000"/>
            <a:ext cx="3310000" cy="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50" b="1">
                <a:solidFill>
                  <a:srgbClr val="182644"/>
                </a:solidFill>
              </a:defRPr>
            </a:pPr>
            <a:r>
              <a:t>Monitoring</a:t>
            </a:r>
          </a:p>
        </p:txBody>
      </p:sp>
      <p:sp>
        <p:nvSpPr>
          <p:cNvPr id="24" name="TB"/>
          <p:cNvSpPr txBox="1"/>
          <p:nvPr/>
        </p:nvSpPr>
        <p:spPr>
          <a:xfrm>
            <a:off x="4440847" y="4420000"/>
            <a:ext cx="3310000" cy="145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Prometheus and Grafana for application health and performance metrics.</a:t>
            </a:r>
          </a:p>
        </p:txBody>
      </p:sp>
      <p:sp>
        <p:nvSpPr>
          <p:cNvPr id="25" name="FooterBar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ooterText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052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Implementation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04672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067B4"/>
                </a:solidFill>
              </a:defRPr>
            </a:pPr>
            <a:r>
              <a:t>Work completed so far — update with your actual progress</a:t>
            </a:r>
          </a:p>
        </p:txBody>
      </p:sp>
      <p:sp>
        <p:nvSpPr>
          <p:cNvPr id="5" name="RR"/>
          <p:cNvSpPr/>
          <p:nvPr/>
        </p:nvSpPr>
        <p:spPr>
          <a:xfrm>
            <a:off x="502920" y="1450000"/>
            <a:ext cx="5486400" cy="460000"/>
          </a:xfrm>
          <a:prstGeom prst="roundRect">
            <a:avLst/>
          </a:prstGeom>
          <a:solidFill>
            <a:srgbClr val="182644"/>
          </a:solidFill>
          <a:ln>
            <a:solidFill>
              <a:srgbClr val="18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COMPLETED SO FAR</a:t>
            </a:r>
          </a:p>
        </p:txBody>
      </p:sp>
      <p:sp>
        <p:nvSpPr>
          <p:cNvPr id="6" name="ChecklistBox"/>
          <p:cNvSpPr/>
          <p:nvPr/>
        </p:nvSpPr>
        <p:spPr>
          <a:xfrm>
            <a:off x="365126" y="2030000"/>
            <a:ext cx="5486400" cy="370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B"/>
          <p:cNvSpPr txBox="1"/>
          <p:nvPr/>
        </p:nvSpPr>
        <p:spPr>
          <a:xfrm>
            <a:off x="760000" y="2200000"/>
            <a:ext cx="4980000" cy="3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300"/>
              </a:spcAft>
              <a:defRPr sz="1150" i="1">
                <a:solidFill>
                  <a:srgbClr val="232A34"/>
                </a:solidFill>
              </a:defRPr>
            </a:pPr>
            <a:r>
              <a:rPr dirty="0"/>
              <a:t>[Requirements gathered, backlog created, Git/GitHub repo set up ]</a:t>
            </a:r>
          </a:p>
          <a:p>
            <a:pPr>
              <a:spcAft>
                <a:spcPts val="1300"/>
              </a:spcAft>
              <a:defRPr sz="1150" i="1">
                <a:solidFill>
                  <a:srgbClr val="232A34"/>
                </a:solidFill>
              </a:defRPr>
            </a:pPr>
            <a:r>
              <a:rPr dirty="0"/>
              <a:t>[Resume/JD upload UI built ]</a:t>
            </a:r>
          </a:p>
          <a:p>
            <a:pPr>
              <a:spcAft>
                <a:spcPts val="1300"/>
              </a:spcAft>
              <a:defRPr sz="1150" i="1">
                <a:solidFill>
                  <a:srgbClr val="232A34"/>
                </a:solidFill>
              </a:defRPr>
            </a:pPr>
            <a:r>
              <a:rPr dirty="0"/>
              <a:t>[Text extraction module working ]</a:t>
            </a:r>
          </a:p>
          <a:p>
            <a:pPr>
              <a:spcAft>
                <a:spcPts val="1300"/>
              </a:spcAft>
              <a:defRPr sz="1150" i="1">
                <a:solidFill>
                  <a:srgbClr val="232A34"/>
                </a:solidFill>
              </a:defRPr>
            </a:pPr>
            <a:r>
              <a:rPr dirty="0"/>
              <a:t>[ NLP preprocessing + TF-IDF engine in progress ]</a:t>
            </a:r>
          </a:p>
        </p:txBody>
      </p:sp>
      <p:sp>
        <p:nvSpPr>
          <p:cNvPr id="8" name="RR"/>
          <p:cNvSpPr/>
          <p:nvPr/>
        </p:nvSpPr>
        <p:spPr>
          <a:xfrm>
            <a:off x="6203950" y="1450000"/>
            <a:ext cx="5486400" cy="460000"/>
          </a:xfrm>
          <a:prstGeom prst="roundRect">
            <a:avLst/>
          </a:prstGeom>
          <a:solidFill>
            <a:srgbClr val="2D8C5F"/>
          </a:solidFill>
          <a:ln>
            <a:solidFill>
              <a:srgbClr val="2D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SCREENSHOTS</a:t>
            </a:r>
          </a:p>
        </p:txBody>
      </p:sp>
      <p:sp>
        <p:nvSpPr>
          <p:cNvPr id="9" name="Shot1"/>
          <p:cNvSpPr/>
          <p:nvPr/>
        </p:nvSpPr>
        <p:spPr>
          <a:xfrm>
            <a:off x="6203950" y="2020000"/>
            <a:ext cx="5486400" cy="1750000"/>
          </a:xfrm>
          <a:prstGeom prst="rect">
            <a:avLst/>
          </a:prstGeom>
          <a:solidFill>
            <a:srgbClr val="F2F6FC"/>
          </a:solidFill>
          <a:ln w="12700">
            <a:solidFill>
              <a:srgbClr val="5A5A5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B"/>
          <p:cNvSpPr txBox="1"/>
          <p:nvPr/>
        </p:nvSpPr>
        <p:spPr>
          <a:xfrm>
            <a:off x="6400000" y="2650000"/>
            <a:ext cx="5100000" cy="5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50" i="1">
                <a:solidFill>
                  <a:srgbClr val="5A5A5A"/>
                </a:solidFill>
              </a:defRPr>
            </a:pPr>
            <a:endParaRPr dirty="0"/>
          </a:p>
        </p:txBody>
      </p:sp>
      <p:sp>
        <p:nvSpPr>
          <p:cNvPr id="11" name="Shot2"/>
          <p:cNvSpPr/>
          <p:nvPr/>
        </p:nvSpPr>
        <p:spPr>
          <a:xfrm>
            <a:off x="6203950" y="3900000"/>
            <a:ext cx="5486400" cy="1820000"/>
          </a:xfrm>
          <a:prstGeom prst="rect">
            <a:avLst/>
          </a:prstGeom>
          <a:solidFill>
            <a:srgbClr val="F2F6FC"/>
          </a:solidFill>
          <a:ln w="12700">
            <a:solidFill>
              <a:srgbClr val="5A5A5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B"/>
          <p:cNvSpPr txBox="1"/>
          <p:nvPr/>
        </p:nvSpPr>
        <p:spPr>
          <a:xfrm>
            <a:off x="6400000" y="4550000"/>
            <a:ext cx="5100000" cy="5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50" i="1">
                <a:solidFill>
                  <a:srgbClr val="5A5A5A"/>
                </a:solidFill>
              </a:defRPr>
            </a:pPr>
            <a:r>
              <a:t>[ Insert screenshot: e.g. Candidate Ranking Output ]</a:t>
            </a:r>
          </a:p>
        </p:txBody>
      </p:sp>
      <p:sp>
        <p:nvSpPr>
          <p:cNvPr id="13" name="GitHubBox"/>
          <p:cNvSpPr/>
          <p:nvPr/>
        </p:nvSpPr>
        <p:spPr>
          <a:xfrm>
            <a:off x="502920" y="5850000"/>
            <a:ext cx="11185855" cy="500000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B"/>
          <p:cNvSpPr txBox="1"/>
          <p:nvPr/>
        </p:nvSpPr>
        <p:spPr>
          <a:xfrm>
            <a:off x="760000" y="5850000"/>
            <a:ext cx="10700000" cy="5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200" b="1">
                <a:solidFill>
                  <a:srgbClr val="182644"/>
                </a:solidFill>
              </a:defRPr>
            </a:pPr>
            <a:r>
              <a:rPr dirty="0"/>
              <a:t>GitHub Repository:  </a:t>
            </a:r>
            <a:r>
              <a:rPr lang="en-US" dirty="0"/>
              <a:t>https://github.com/2420090109/ASE_RESUME_SCREENING_SYSTEM</a:t>
            </a:r>
            <a:endParaRPr dirty="0"/>
          </a:p>
        </p:txBody>
      </p:sp>
      <p:sp>
        <p:nvSpPr>
          <p:cNvPr id="15" name="FooterBar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ooterText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  <p:sp>
        <p:nvSpPr>
          <p:cNvPr id="17" name="AutoShape 2">
            <a:extLst>
              <a:ext uri="{FF2B5EF4-FFF2-40B4-BE49-F238E27FC236}">
                <a16:creationId xmlns:a16="http://schemas.microsoft.com/office/drawing/2014/main" id="{E67D2DA3-688D-4C20-8FFD-4E0F5A6127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6B1C5872-6175-4966-B4D0-08519C27AA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CD45033-9F92-4311-84FF-38D6197BD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794" y="1854665"/>
            <a:ext cx="5462256" cy="196433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7117B83-A301-48E0-B6FC-9BD02AD5F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874" y="3918339"/>
            <a:ext cx="5667858" cy="18763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644"/>
                </a:solidFill>
              </a:rPr>
              <a:t>Conclusion &amp; Future Scope</a:t>
            </a:r>
          </a:p>
        </p:txBody>
      </p:sp>
      <p:sp>
        <p:nvSpPr>
          <p:cNvPr id="4" name="RR"/>
          <p:cNvSpPr/>
          <p:nvPr/>
        </p:nvSpPr>
        <p:spPr>
          <a:xfrm>
            <a:off x="509447" y="1450000"/>
            <a:ext cx="5486400" cy="500000"/>
          </a:xfrm>
          <a:prstGeom prst="roundRect">
            <a:avLst/>
          </a:prstGeom>
          <a:solidFill>
            <a:srgbClr val="182644"/>
          </a:solidFill>
          <a:ln>
            <a:solidFill>
              <a:srgbClr val="18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CURRENT STATUS</a:t>
            </a:r>
          </a:p>
        </p:txBody>
      </p:sp>
      <p:sp>
        <p:nvSpPr>
          <p:cNvPr id="5" name="StatusBox"/>
          <p:cNvSpPr/>
          <p:nvPr/>
        </p:nvSpPr>
        <p:spPr>
          <a:xfrm>
            <a:off x="509447" y="2020000"/>
            <a:ext cx="5486400" cy="440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B"/>
          <p:cNvSpPr txBox="1"/>
          <p:nvPr/>
        </p:nvSpPr>
        <p:spPr>
          <a:xfrm>
            <a:off x="769447" y="2200000"/>
            <a:ext cx="4966400" cy="41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300"/>
              </a:spcAft>
              <a:defRPr sz="1200">
                <a:solidFill>
                  <a:srgbClr val="232A34"/>
                </a:solidFill>
              </a:defRPr>
            </a:pPr>
            <a:r>
              <a:t>Core resume parsing, NLP preprocessing, and TF-IDF-based candidate ranking are functional, with DevSecOps and MLOps integration progressing through iterative Agile Scrum sprints.</a:t>
            </a:r>
          </a:p>
          <a:p>
            <a:pPr>
              <a:spcAft>
                <a:spcPts val="1000"/>
              </a:spcAft>
              <a:defRPr sz="1150">
                <a:solidFill>
                  <a:srgbClr val="232A34"/>
                </a:solidFill>
              </a:defRPr>
            </a:pPr>
            <a:r>
              <a:t>•  Web interface for resume and job-description uploads</a:t>
            </a:r>
          </a:p>
          <a:p>
            <a:pPr>
              <a:spcAft>
                <a:spcPts val="1000"/>
              </a:spcAft>
              <a:defRPr sz="1150">
                <a:solidFill>
                  <a:srgbClr val="232A34"/>
                </a:solidFill>
              </a:defRPr>
            </a:pPr>
            <a:r>
              <a:t>•  Automated candidate ranking based on relevance</a:t>
            </a:r>
          </a:p>
          <a:p>
            <a:pPr>
              <a:spcAft>
                <a:spcPts val="1000"/>
              </a:spcAft>
              <a:defRPr sz="1150">
                <a:solidFill>
                  <a:srgbClr val="232A34"/>
                </a:solidFill>
              </a:defRPr>
            </a:pPr>
            <a:r>
              <a:t>•  Matched skills and up to 2 key skill gaps per candidate</a:t>
            </a:r>
          </a:p>
          <a:p>
            <a:pPr>
              <a:spcAft>
                <a:spcPts val="1000"/>
              </a:spcAft>
              <a:defRPr sz="1150">
                <a:solidFill>
                  <a:srgbClr val="232A34"/>
                </a:solidFill>
              </a:defRPr>
            </a:pPr>
            <a:r>
              <a:t>•  Reduced screening time and improved consistency</a:t>
            </a:r>
          </a:p>
        </p:txBody>
      </p:sp>
      <p:sp>
        <p:nvSpPr>
          <p:cNvPr id="7" name="RR"/>
          <p:cNvSpPr/>
          <p:nvPr/>
        </p:nvSpPr>
        <p:spPr>
          <a:xfrm>
            <a:off x="6195847" y="1450000"/>
            <a:ext cx="5486400" cy="500000"/>
          </a:xfrm>
          <a:prstGeom prst="roundRect">
            <a:avLst/>
          </a:prstGeom>
          <a:solidFill>
            <a:srgbClr val="2D8C5F"/>
          </a:solidFill>
          <a:ln>
            <a:solidFill>
              <a:srgbClr val="2D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8" name="FutureBox"/>
          <p:cNvSpPr/>
          <p:nvPr/>
        </p:nvSpPr>
        <p:spPr>
          <a:xfrm>
            <a:off x="6195847" y="2020000"/>
            <a:ext cx="5486400" cy="4400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B"/>
          <p:cNvSpPr txBox="1"/>
          <p:nvPr/>
        </p:nvSpPr>
        <p:spPr>
          <a:xfrm>
            <a:off x="6455847" y="2200000"/>
            <a:ext cx="4966400" cy="41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200"/>
              </a:spcAft>
              <a:defRPr sz="1150">
                <a:solidFill>
                  <a:srgbClr val="232A34"/>
                </a:solidFill>
              </a:defRPr>
            </a:pPr>
            <a:r>
              <a:t>•  Extend ranking with GitHub-based project evidence — verifying claimed skills using public repositories, languages, and project descriptions.</a:t>
            </a:r>
          </a:p>
          <a:p>
            <a:pPr>
              <a:spcAft>
                <a:spcPts val="1200"/>
              </a:spcAft>
              <a:defRPr sz="1150">
                <a:solidFill>
                  <a:srgbClr val="232A34"/>
                </a:solidFill>
              </a:defRPr>
            </a:pPr>
            <a:r>
              <a:t>•  Explore semantic/BERT-based matching beyond TF-IDF for deeper context understanding.</a:t>
            </a:r>
          </a:p>
          <a:p>
            <a:pPr>
              <a:spcAft>
                <a:spcPts val="1200"/>
              </a:spcAft>
              <a:defRPr sz="1150">
                <a:solidFill>
                  <a:srgbClr val="232A34"/>
                </a:solidFill>
              </a:defRPr>
            </a:pPr>
            <a:r>
              <a:t>•  Add fairness-aware ranking to help reduce bias in candidate scoring.</a:t>
            </a:r>
          </a:p>
          <a:p>
            <a:pPr>
              <a:spcAft>
                <a:spcPts val="1200"/>
              </a:spcAft>
              <a:defRPr sz="1150">
                <a:solidFill>
                  <a:srgbClr val="232A34"/>
                </a:solidFill>
              </a:defRPr>
            </a:pPr>
            <a:r>
              <a:t>•  Complete full Kubernetes deployment with end-to-end monitoring via Prometheus and Grafana.</a:t>
            </a:r>
          </a:p>
        </p:txBody>
      </p:sp>
      <p:sp>
        <p:nvSpPr>
          <p:cNvPr id="10" name="FooterBar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ooterText"/>
          <p:cNvSpPr txBox="1"/>
          <p:nvPr/>
        </p:nvSpPr>
        <p:spPr>
          <a:xfrm>
            <a:off x="502920" y="6684264"/>
            <a:ext cx="10972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ASE Project •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825</Words>
  <Application>Microsoft Office PowerPoint</Application>
  <PresentationFormat>Widescreen</PresentationFormat>
  <Paragraphs>137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Syed Musaib</cp:lastModifiedBy>
  <cp:revision>4</cp:revision>
  <dcterms:created xsi:type="dcterms:W3CDTF">2013-01-27T09:14:16Z</dcterms:created>
  <dcterms:modified xsi:type="dcterms:W3CDTF">2026-09-19T07:08:58Z</dcterms:modified>
  <cp:category/>
</cp:coreProperties>
</file>