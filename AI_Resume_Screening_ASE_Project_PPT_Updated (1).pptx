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82644"/>
                </a:solidFill>
              </a:defRPr>
            </a:pPr>
            <a:r>
              <a:t>AI-Based Resume Screening and</a:t>
            </a:r>
            <a:br/>
            <a:r>
              <a:t>Candidate Ranking System</a:t>
            </a:r>
          </a:p>
          <a:p>
            <a:pPr>
              <a:defRPr sz="2300" b="1">
                <a:solidFill>
                  <a:srgbClr val="3067B4"/>
                </a:solidFill>
              </a:defRPr>
            </a:pPr>
            <a:r>
              <a:t>Using DevSecOps and MLOps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246120"/>
            <a:ext cx="38404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A34"/>
                </a:solidFill>
              </a:rPr>
              <a:t>ENGINEERING CAPSTONE PROJECT –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069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Animesh Balaji Patro • Navaneeth • G. Satya Austin Abner • Syed Musaib</a:t>
            </a:r>
          </a:p>
          <a:p>
            <a:pPr>
              <a:defRPr sz="1500">
                <a:solidFill>
                  <a:srgbClr val="232A34"/>
                </a:solidFill>
              </a:defRPr>
            </a:pPr>
            <a:r>
              <a:t>Guide: Dr. Bhavya Varma Kalidindi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06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067B4"/>
                </a:solidFill>
              </a:defRPr>
            </a:pPr>
            <a:r>
              <a:t>Department of CSE • A.Y.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644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067B4"/>
                </a:solidFill>
              </a:defRPr>
            </a:pPr>
            <a:r>
              <a:t>Why automate the first stage of recruitment?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20040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A34"/>
                </a:solidFill>
              </a:rPr>
              <a:t>Hundreds of 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25880"/>
            <a:ext cx="320040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A34"/>
                </a:solidFill>
              </a:rPr>
              <a:t>Manual screening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325880"/>
            <a:ext cx="320040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A34"/>
                </a:solidFill>
              </a:rPr>
              <a:t>Inconsistent shortlisting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Recruiters must compare many resumes against detailed job requirements.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Manual review is slow, repetitive, and can overlook qualified candidates.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Keyword-only approaches may miss relevant skills expressed with different terminology.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An AI-assisted system can extract resume information, calculate relevance, and rank candidates.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The proposed project combines AI/NLP with secure software delivery and MLOps.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84264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ASE Project • 2026–2027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644"/>
                </a:solidFill>
              </a:rPr>
              <a:t>Abstract, Problem Statement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743200" cy="457200"/>
          </a:xfrm>
          <a:prstGeom prst="roundRect">
            <a:avLst/>
          </a:prstGeom>
          <a:solidFill>
            <a:schemeClr val="bg2"/>
          </a:solidFill>
          <a:ln>
            <a:solidFill>
              <a:srgbClr val="18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32A34"/>
                </a:solidFill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</a:defRPr>
            </a:pPr>
            <a:r>
              <a:rPr dirty="0"/>
              <a:t>Extract skills, education, certifications, and experience from uploaded resumes.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</a:defRPr>
            </a:pPr>
            <a:r>
              <a:rPr dirty="0"/>
              <a:t>Preprocess resume text and compare it with the job description using NLP/ML.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</a:defRPr>
            </a:pPr>
            <a:r>
              <a:rPr dirty="0"/>
              <a:t>Generate relevance scores and an ordered candidate list with matched skills and up to 2 key skill gaps.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</a:defRPr>
            </a:pPr>
            <a:r>
              <a:rPr dirty="0"/>
              <a:t>Use Agile Scrum, DevOps, </a:t>
            </a:r>
            <a:r>
              <a:rPr dirty="0" err="1"/>
              <a:t>DevSecOps</a:t>
            </a:r>
            <a:r>
              <a:rPr dirty="0"/>
              <a:t>, and </a:t>
            </a:r>
            <a:r>
              <a:rPr dirty="0" err="1"/>
              <a:t>MLOps</a:t>
            </a:r>
            <a:r>
              <a:rPr dirty="0"/>
              <a:t> to create a complete engineering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097280"/>
            <a:ext cx="3474720" cy="457200"/>
          </a:xfrm>
          <a:prstGeom prst="roundRect">
            <a:avLst/>
          </a:prstGeom>
          <a:solidFill>
            <a:schemeClr val="bg2"/>
          </a:solidFill>
          <a:ln>
            <a:solidFill>
              <a:srgbClr val="18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232A34"/>
                </a:solidFill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916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</a:defRPr>
            </a:pPr>
            <a:r>
              <a:t>Manual screening consumes significant time.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</a:defRPr>
            </a:pPr>
            <a:r>
              <a:t>Human error can lead to inconsistent evaluation.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</a:defRPr>
            </a:pPr>
            <a:r>
              <a:t>Qualified candidates may be missed.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</a:defRPr>
            </a:pPr>
            <a:r>
              <a:t>Need objective, scalable, secure candidate ranking.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86200"/>
            <a:ext cx="2194560" cy="457200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32A34"/>
                </a:solidFill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44348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</a:defRPr>
            </a:pPr>
            <a:r>
              <a:t>Automate resume screening</a:t>
            </a:r>
          </a:p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</a:defRPr>
            </a:pPr>
            <a:r>
              <a:t>Rank candidates by job relevance</a:t>
            </a:r>
          </a:p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</a:defRPr>
            </a:pPr>
            <a:r>
              <a:t>Reduce screening time and effort</a:t>
            </a:r>
          </a:p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</a:defRPr>
            </a:pPr>
            <a:r>
              <a:t>Demonstrate Agile/DevOps/DevSecOps/MLOps</a:t>
            </a:r>
          </a:p>
          <a:p>
            <a:pPr>
              <a:spcAft>
                <a:spcPts val="800"/>
              </a:spcAft>
              <a:defRPr sz="1400">
                <a:solidFill>
                  <a:srgbClr val="232A34"/>
                </a:solidFill>
              </a:defRPr>
            </a:pPr>
            <a:r>
              <a:t>Deploy a secure, scalable application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684264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ASE Project • 2026–2027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644"/>
                </a:solidFill>
              </a:rPr>
              <a:t>Literature Survey – 1/2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43000"/>
          <a:ext cx="113842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458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Paper</a:t>
                      </a:r>
                    </a:p>
                  </a:txBody>
                  <a:tcPr marL="54864" marR="54864" marT="27432" marB="27432">
                    <a:solidFill>
                      <a:srgbClr val="18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 marL="54864" marR="54864" marT="27432" marB="27432">
                    <a:solidFill>
                      <a:srgbClr val="18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 marL="54864" marR="54864" marT="27432" marB="27432">
                    <a:solidFill>
                      <a:srgbClr val="18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Key finding</a:t>
                      </a:r>
                    </a:p>
                  </a:txBody>
                  <a:tcPr marL="54864" marR="54864" marT="27432" marB="27432">
                    <a:solidFill>
                      <a:srgbClr val="1826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Design and development of machine learning based resume ranking system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Cosine similarity + KNN for CV ranking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Automates large-scale ranking; content similarity is useful.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Your resume is your gatekeeper: Automated resume screening as a strategy to reduce gender gaps in hiring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Field study of automated screening and gender outcomes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Shows recruitment AI can affect fairness; bias must be considered.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Applying BERT-Based NLP for Automated Resume Screening and Candidate Ranking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BERT + preprocessing + keyword/skill extraction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Contextual NLP improves semantic screening.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Job Description and Resume Matching System Using NLP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NLP models with BERT semantic similarity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Supports BERT for job–resume matching.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AI-Powered Automated Resume Screening and Job Matching System Using NLP and ML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Information extraction + semantic vectors + matching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Automates fit classification and recruiter dashboard.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458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Cracking the AI recruitment code: Striving for transparency in finding the right person–job fit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Study of AI transparency and person–job fit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Transparency can reduce differences between AI and human fit judgments.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84264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Literature survey • Sources researched for PPT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A5A5A"/>
                </a:solidFill>
              </a:defRPr>
            </a:pPr>
            <a:r>
              <a:t>Sources: ScienceDirect / Elsevier papers and indexed research used for literature survey: Design and development of ML-based resume ranking system (2022); Your resume is your gatekeeper (2022); Applying BERT-Ba…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644"/>
                </a:solidFill>
              </a:rPr>
              <a:t>Literature Survey – 2/2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43000"/>
          <a:ext cx="113842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458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Paper</a:t>
                      </a:r>
                    </a:p>
                  </a:txBody>
                  <a:tcPr marL="54864" marR="54864" marT="27432" marB="27432">
                    <a:solidFill>
                      <a:srgbClr val="18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 marL="54864" marR="54864" marT="27432" marB="27432">
                    <a:solidFill>
                      <a:srgbClr val="18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 marL="54864" marR="54864" marT="27432" marB="27432">
                    <a:solidFill>
                      <a:srgbClr val="18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Key finding</a:t>
                      </a:r>
                    </a:p>
                  </a:txBody>
                  <a:tcPr marL="54864" marR="54864" marT="27432" marB="27432">
                    <a:solidFill>
                      <a:srgbClr val="1826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AI-driven semantic similarity-based job matching framework for recruitment systems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Semantic similarity for real-time recruitment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Moves beyond keyword matching toward contextual alignment.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A Hybrid Machine Learning Approach for Automated Resume Screening and Candidate Ranking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TF-IDF + Word2Vec + BERT hybrid features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Combines sparse and contextual representations.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Automated Resume Screening System Using NLP and Machine Learning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TF-IDF + Word2Vec + BERT + cosine/SVM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Hybrid ranking can improve relevance and screening efficiency.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Nexus: A Multi-Modal Framework for Semantic Job Matching and AI-Driven Resume Analysis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PDF/OCR parsing + BERT/SBERT + LLM prompting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Handles varied resume layouts and semantic matching.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Towards bias-free recruitment: Adversarial contrastive tuning for LLM-based resume screening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Adapter fine-tuning + adversarial debiasing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Targets fairness while preserving screening performance.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458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Resume Screening, Fast and Slow: (Biased) AI Recommendations' Influence on Human Decision Making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Human-AI resume screening experiment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4"/>
                          </a:solidFill>
                        </a:defRPr>
                      </a:pPr>
                      <a:r>
                        <a:t>AI recommendations can influence human attention and decisions.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84264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Literature survey • Sources researched for PPT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A5A5A"/>
                </a:solidFill>
              </a:defRPr>
            </a:pPr>
            <a:r>
              <a:t>Sources: ScienceDirect / Elsevier papers and indexed research used for literature survey: Design and development of ML-based resume ranking system (2022); Your resume is your gatekeeper (2022); Applying BERT-Ba…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644"/>
                </a:solidFill>
              </a:rPr>
              <a:t>Previous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067B4"/>
                </a:solidFill>
              </a:defRPr>
            </a:pPr>
            <a:r>
              <a:t>Traditional and baseline recruitment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737360" cy="6858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A34"/>
                </a:solidFill>
              </a:rPr>
              <a:t>Receive resumes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17320"/>
            <a:ext cx="1737360" cy="6858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A34"/>
                </a:solidFill>
              </a:rPr>
              <a:t>Manual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417320"/>
            <a:ext cx="1737360" cy="6858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A34"/>
                </a:solidFill>
              </a:rPr>
              <a:t>Keyword matching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417320"/>
            <a:ext cx="1737360" cy="6858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A34"/>
                </a:solidFill>
              </a:rPr>
              <a:t>Shortlist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417320"/>
            <a:ext cx="1737360" cy="6858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A34"/>
                </a:solidFill>
              </a:rPr>
              <a:t>Human decision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04288" y="1581912"/>
            <a:ext cx="384048" cy="365760"/>
          </a:xfrm>
          <a:prstGeom prst="rightArrow">
            <a:avLst/>
          </a:prstGeom>
          <a:solidFill>
            <a:srgbClr val="30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4498848" y="1581912"/>
            <a:ext cx="384048" cy="365760"/>
          </a:xfrm>
          <a:prstGeom prst="rightArrow">
            <a:avLst/>
          </a:prstGeom>
          <a:solidFill>
            <a:srgbClr val="30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6693408" y="1581912"/>
            <a:ext cx="384048" cy="365760"/>
          </a:xfrm>
          <a:prstGeom prst="rightArrow">
            <a:avLst/>
          </a:prstGeom>
          <a:solidFill>
            <a:srgbClr val="30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8887968" y="1581912"/>
            <a:ext cx="384048" cy="365760"/>
          </a:xfrm>
          <a:prstGeom prst="rightArrow">
            <a:avLst/>
          </a:prstGeom>
          <a:solidFill>
            <a:srgbClr val="30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Large volumes require significant recruiter time.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Keyword matching may miss synonyms and contextual relationships.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Evaluation can vary between recruiters.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Manual workflows provide limited traceability and repeatability.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Security, CI/CD, deployment, model versioning, and monitoring are often handled separately.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743200"/>
            <a:ext cx="1828800" cy="457200"/>
          </a:xfrm>
          <a:prstGeom prst="roundRect">
            <a:avLst/>
          </a:prstGeom>
          <a:solidFill>
            <a:srgbClr val="BE4646"/>
          </a:solidFill>
          <a:ln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A34"/>
                </a:solidFill>
              </a:rPr>
              <a:t>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375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Time-consuming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Inconsistent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Keyword-dependent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Hard to scale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Limited automation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684264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ASE Project • 2026–2027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644"/>
                </a:solidFill>
              </a:rPr>
              <a:t>New / 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067B4"/>
                </a:solidFill>
              </a:defRPr>
            </a:pPr>
            <a:r>
              <a:t>End-to-end AI + DevSecOps + MLOps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34440"/>
            <a:ext cx="1325880" cy="658368"/>
          </a:xfrm>
          <a:prstGeom prst="roundRect">
            <a:avLst/>
          </a:prstGeom>
          <a:solidFill>
            <a:srgbClr val="F2F6FC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A34"/>
                </a:solidFill>
              </a:rPr>
              <a:t>Resume PDF/DOCX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234440"/>
            <a:ext cx="1325880" cy="658368"/>
          </a:xfrm>
          <a:prstGeom prst="roundRect">
            <a:avLst/>
          </a:prstGeom>
          <a:solidFill>
            <a:srgbClr val="F2F6FC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A34"/>
                </a:solidFill>
              </a:rPr>
              <a:t>Text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234440"/>
            <a:ext cx="1325880" cy="658368"/>
          </a:xfrm>
          <a:prstGeom prst="roundRect">
            <a:avLst/>
          </a:prstGeom>
          <a:solidFill>
            <a:srgbClr val="F2F6FC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A34"/>
                </a:solidFill>
              </a:rPr>
              <a:t>Preprocessing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234440"/>
            <a:ext cx="1325880" cy="658368"/>
          </a:xfrm>
          <a:prstGeom prst="roundRect">
            <a:avLst/>
          </a:prstGeom>
          <a:solidFill>
            <a:srgbClr val="F2F6FC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A34"/>
                </a:solidFill>
              </a:rPr>
              <a:t>TF-IDF Vectors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234440"/>
            <a:ext cx="1325880" cy="658368"/>
          </a:xfrm>
          <a:prstGeom prst="roundRect">
            <a:avLst/>
          </a:prstGeom>
          <a:solidFill>
            <a:srgbClr val="F2F6FC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A34"/>
                </a:solidFill>
              </a:rPr>
              <a:t>Similarity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234440"/>
            <a:ext cx="1325880" cy="658368"/>
          </a:xfrm>
          <a:prstGeom prst="roundRect">
            <a:avLst/>
          </a:prstGeom>
          <a:solidFill>
            <a:srgbClr val="F2F6FC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A34"/>
                </a:solidFill>
              </a:rPr>
              <a:t>Candidate Ranking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1234440"/>
            <a:ext cx="1325880" cy="658368"/>
          </a:xfrm>
          <a:prstGeom prst="roundRect">
            <a:avLst/>
          </a:prstGeom>
          <a:solidFill>
            <a:srgbClr val="F2F6FC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A34"/>
                </a:solidFill>
              </a:rPr>
              <a:t>Recruiter UI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664208" y="1417320"/>
            <a:ext cx="164592" cy="228600"/>
          </a:xfrm>
          <a:prstGeom prst="rightArrow">
            <a:avLst/>
          </a:prstGeom>
          <a:solidFill>
            <a:srgbClr val="30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3172968" y="1417320"/>
            <a:ext cx="164592" cy="228600"/>
          </a:xfrm>
          <a:prstGeom prst="rightArrow">
            <a:avLst/>
          </a:prstGeom>
          <a:solidFill>
            <a:srgbClr val="30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4681728" y="1417320"/>
            <a:ext cx="164592" cy="228600"/>
          </a:xfrm>
          <a:prstGeom prst="rightArrow">
            <a:avLst/>
          </a:prstGeom>
          <a:solidFill>
            <a:srgbClr val="30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6190488" y="1417320"/>
            <a:ext cx="164592" cy="228600"/>
          </a:xfrm>
          <a:prstGeom prst="rightArrow">
            <a:avLst/>
          </a:prstGeom>
          <a:solidFill>
            <a:srgbClr val="30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7699248" y="1417320"/>
            <a:ext cx="164592" cy="228600"/>
          </a:xfrm>
          <a:prstGeom prst="rightArrow">
            <a:avLst/>
          </a:prstGeom>
          <a:solidFill>
            <a:srgbClr val="30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9208008" y="1417320"/>
            <a:ext cx="164592" cy="228600"/>
          </a:xfrm>
          <a:prstGeom prst="rightArrow">
            <a:avLst/>
          </a:prstGeom>
          <a:solidFill>
            <a:srgbClr val="30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" y="2743200"/>
            <a:ext cx="1828800" cy="502920"/>
          </a:xfrm>
          <a:prstGeom prst="roundRect">
            <a:avLst/>
          </a:prstGeom>
          <a:solidFill>
            <a:srgbClr val="182644"/>
          </a:solidFill>
          <a:ln>
            <a:solidFill>
              <a:srgbClr val="18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A34"/>
                </a:solidFill>
              </a:rPr>
              <a:t>DEVSECOPS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38328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</a:defRPr>
            </a:pPr>
            <a:r>
              <a:t>Git/GitHub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</a:defRPr>
            </a:pPr>
            <a:r>
              <a:t>GitHub Actions CI/CD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</a:defRPr>
            </a:pPr>
            <a:r>
              <a:t>Docker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</a:defRPr>
            </a:pPr>
            <a:r>
              <a:t>Kubernetes (Minikube)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</a:defRPr>
            </a:pPr>
            <a:r>
              <a:t>SonarQube • Trivy • OWASP ZAP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</a:defRPr>
            </a:pPr>
            <a:r>
              <a:t>Secure secret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2743200"/>
            <a:ext cx="1828800" cy="502920"/>
          </a:xfrm>
          <a:prstGeom prst="roundRect">
            <a:avLst/>
          </a:prstGeom>
          <a:solidFill>
            <a:srgbClr val="182644"/>
          </a:solidFill>
          <a:ln>
            <a:solidFill>
              <a:srgbClr val="18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A34"/>
                </a:solidFill>
              </a:rPr>
              <a:t>MLOPS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38328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</a:defRPr>
            </a:pPr>
            <a:r>
              <a:t>DVC dataset versioning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</a:defRPr>
            </a:pPr>
            <a:r>
              <a:t>MLflow experiment tracking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</a:defRPr>
            </a:pPr>
            <a:r>
              <a:t>Model registry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</a:defRPr>
            </a:pPr>
            <a:r>
              <a:t>Reproducible ML workflow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2743200"/>
            <a:ext cx="2103120" cy="502920"/>
          </a:xfrm>
          <a:prstGeom prst="roundRect">
            <a:avLst/>
          </a:prstGeom>
          <a:solidFill>
            <a:srgbClr val="182644"/>
          </a:solidFill>
          <a:ln>
            <a:solidFill>
              <a:srgbClr val="18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A34"/>
                </a:solidFill>
              </a:rPr>
              <a:t>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38328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</a:defRPr>
            </a:pPr>
            <a:r>
              <a:t>Prometheus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</a:defRPr>
            </a:pPr>
            <a:r>
              <a:t>Grafana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</a:defRPr>
            </a:pPr>
            <a:r>
              <a:t>Application health and metrics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2743200"/>
            <a:ext cx="1828800" cy="502920"/>
          </a:xfrm>
          <a:prstGeom prst="roundRect">
            <a:avLst/>
          </a:prstGeom>
          <a:solidFill>
            <a:srgbClr val="2D8C5F"/>
          </a:solidFill>
          <a:ln>
            <a:solidFill>
              <a:srgbClr val="2D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A34"/>
                </a:solidFill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38328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</a:defRPr>
            </a:pPr>
            <a:r>
              <a:t>Ranked candidates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</a:defRPr>
            </a:pPr>
            <a:r>
              <a:t>Matched skills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</a:defRPr>
            </a:pPr>
            <a:r>
              <a:t>Skill gaps (max 2)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</a:defRPr>
            </a:pPr>
            <a:r>
              <a:t>Faster shortlisting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684264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ASE Project • 2026–2027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644"/>
                </a:solidFill>
              </a:rPr>
              <a:t>Proposed Enhancement: GitHub-Based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067B4"/>
                </a:solidFill>
              </a:defRPr>
            </a:pPr>
            <a:r>
              <a:t>Strengthening candidate ranking with verifiable project evidence, beyond resume text alone</a:t>
            </a:r>
          </a:p>
        </p:txBody>
      </p:sp>
      <p:sp>
        <p:nvSpPr>
          <p:cNvPr id="5" name="Rounded Rectangle Left Header"/>
          <p:cNvSpPr/>
          <p:nvPr/>
        </p:nvSpPr>
        <p:spPr>
          <a:xfrm>
            <a:off x="502920" y="1371600"/>
            <a:ext cx="5486400" cy="502920"/>
          </a:xfrm>
          <a:prstGeom prst="roundRect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APPROACH</a:t>
            </a:r>
          </a:p>
        </p:txBody>
      </p:sp>
      <p:sp>
        <p:nvSpPr>
          <p:cNvPr id="6" name="Left Body Box"/>
          <p:cNvSpPr/>
          <p:nvPr/>
        </p:nvSpPr>
        <p:spPr>
          <a:xfrm>
            <a:off x="502920" y="1966280"/>
            <a:ext cx="5486400" cy="420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eft Body Text"/>
          <p:cNvSpPr txBox="1"/>
          <p:nvPr/>
        </p:nvSpPr>
        <p:spPr>
          <a:xfrm>
            <a:off x="777240" y="2148840"/>
            <a:ext cx="4937760" cy="3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  <a:defRPr sz="1300">
                <a:solidFill>
                  <a:srgbClr val="232A34"/>
                </a:solidFill>
              </a:defRPr>
            </a:pPr>
            <a:r>
              <a:t>Ranking relies only on skills, keywords, and phrases stated directly in the resume text.</a:t>
            </a:r>
          </a:p>
          <a:p>
            <a:pPr>
              <a:spcAft>
                <a:spcPts val="1000"/>
              </a:spcAft>
              <a:defRPr sz="1300">
                <a:solidFill>
                  <a:srgbClr val="232A34"/>
                </a:solidFill>
              </a:defRPr>
            </a:pPr>
            <a:r>
              <a:t>There is no independent way to verify whether a claimed skill was actually applied.</a:t>
            </a:r>
          </a:p>
          <a:p>
            <a:pPr>
              <a:spcAft>
                <a:spcPts val="1000"/>
              </a:spcAft>
              <a:defRPr sz="1300">
                <a:solidFill>
                  <a:srgbClr val="232A34"/>
                </a:solidFill>
              </a:defRPr>
            </a:pPr>
            <a:r>
              <a:t>Self-reported skill lists are vulnerable to keyword stuffing and exaggeration.</a:t>
            </a:r>
          </a:p>
          <a:p>
            <a:pPr>
              <a:spcAft>
                <a:spcPts val="1000"/>
              </a:spcAft>
              <a:defRPr sz="1300">
                <a:solidFill>
                  <a:srgbClr val="232A34"/>
                </a:solidFill>
              </a:defRPr>
            </a:pPr>
            <a:r>
              <a:t>TF-IDF similarity alone measures textual overlap, not demonstrated ability.</a:t>
            </a:r>
          </a:p>
        </p:txBody>
      </p:sp>
      <p:sp>
        <p:nvSpPr>
          <p:cNvPr id="8" name="Rounded Rectangle Right Header"/>
          <p:cNvSpPr/>
          <p:nvPr/>
        </p:nvSpPr>
        <p:spPr>
          <a:xfrm>
            <a:off x="6203950" y="1371600"/>
            <a:ext cx="5486400" cy="502920"/>
          </a:xfrm>
          <a:prstGeom prst="roundRect">
            <a:avLst/>
          </a:prstGeom>
          <a:solidFill>
            <a:srgbClr val="2D8C5F"/>
          </a:solidFill>
          <a:ln>
            <a:solidFill>
              <a:srgbClr val="2D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PROPOSED ENHANCEMENT</a:t>
            </a:r>
          </a:p>
        </p:txBody>
      </p:sp>
      <p:sp>
        <p:nvSpPr>
          <p:cNvPr id="9" name="Right Body Box"/>
          <p:cNvSpPr/>
          <p:nvPr/>
        </p:nvSpPr>
        <p:spPr>
          <a:xfrm>
            <a:off x="6203950" y="1966280"/>
            <a:ext cx="5486400" cy="420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Body Text"/>
          <p:cNvSpPr txBox="1"/>
          <p:nvPr/>
        </p:nvSpPr>
        <p:spPr>
          <a:xfrm>
            <a:off x="6478270" y="2148840"/>
            <a:ext cx="4937760" cy="3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  <a:defRPr sz="1300">
                <a:solidFill>
                  <a:srgbClr val="232A34"/>
                </a:solidFill>
              </a:defRPr>
            </a:pPr>
            <a:r>
              <a:t>Analyze publicly available GitHub repositories linked by the candidate.</a:t>
            </a:r>
          </a:p>
          <a:p>
            <a:pPr>
              <a:spcAft>
                <a:spcPts val="1000"/>
              </a:spcAft>
              <a:defRPr sz="1300">
                <a:solidFill>
                  <a:srgbClr val="232A34"/>
                </a:solidFill>
              </a:defRPr>
            </a:pPr>
            <a:r>
              <a:t>Extract programming languages used and project descriptions from real repositories.</a:t>
            </a:r>
          </a:p>
          <a:p>
            <a:pPr>
              <a:spcAft>
                <a:spcPts val="1000"/>
              </a:spcAft>
              <a:defRPr sz="1300">
                <a:solidFill>
                  <a:srgbClr val="232A34"/>
                </a:solidFill>
              </a:defRPr>
            </a:pPr>
            <a:r>
              <a:t>Cross-check claimed resume skills against this project evidence.</a:t>
            </a:r>
          </a:p>
          <a:p>
            <a:pPr>
              <a:spcAft>
                <a:spcPts val="1000"/>
              </a:spcAft>
              <a:defRPr sz="1300">
                <a:solidFill>
                  <a:srgbClr val="232A34"/>
                </a:solidFill>
              </a:defRPr>
            </a:pPr>
            <a:r>
              <a:t>Produces a stronger, more defensible relevance score than text similarity alone.</a:t>
            </a:r>
          </a:p>
        </p:txBody>
      </p:sp>
      <p:sp>
        <p:nvSpPr>
          <p:cNvPr id="11" name="Why it matters box"/>
          <p:cNvSpPr/>
          <p:nvPr/>
        </p:nvSpPr>
        <p:spPr>
          <a:xfrm>
            <a:off x="502920" y="6210300"/>
            <a:ext cx="1118587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50" i="1">
                <a:solidFill>
                  <a:srgbClr val="3067B4"/>
                </a:solidFill>
              </a:defRPr>
            </a:pPr>
            <a:r>
              <a:t>Moves candidate ranking from self-reported claims to verifiable, evidence-based skill matching.</a:t>
            </a:r>
          </a:p>
        </p:txBody>
      </p:sp>
      <p:sp>
        <p:nvSpPr>
          <p:cNvPr id="12" name="Rectangle Footer Bar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ooter TextBox"/>
          <p:cNvSpPr txBox="1"/>
          <p:nvPr/>
        </p:nvSpPr>
        <p:spPr>
          <a:xfrm>
            <a:off x="502920" y="6684264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ASE Project • 2026–2027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644"/>
                </a:solidFill>
              </a:rPr>
              <a:t>Tech Stack &amp; Expected Outcome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57607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 marL="54864" marR="54864" marT="27432" marB="27432">
                    <a:solidFill>
                      <a:srgbClr val="18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 marL="54864" marR="54864" marT="27432" marB="27432">
                    <a:solidFill>
                      <a:srgbClr val="1826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</a:defRPr>
                      </a:pPr>
                      <a:r>
                        <a:t>Language / ML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</a:defRPr>
                      </a:pPr>
                      <a:r>
                        <a:t>Python • NLP • TF-IDF • Machine Learning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</a:defRPr>
                      </a:pPr>
                      <a:r>
                        <a:t>Flask API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</a:defRPr>
                      </a:pPr>
                      <a:r>
                        <a:t>Input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</a:defRPr>
                      </a:pPr>
                      <a:r>
                        <a:t>PDF / DOCX resumes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</a:defRPr>
                      </a:pPr>
                      <a:r>
                        <a:t>Version Control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</a:defRPr>
                      </a:pPr>
                      <a:r>
                        <a:t>Git • GitHub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</a:defRPr>
                      </a:pPr>
                      <a:r>
                        <a:t>CI/CD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</a:defRPr>
                      </a:pPr>
                      <a:r>
                        <a:t>GitHub Actions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</a:defRPr>
                      </a:pPr>
                      <a:r>
                        <a:t>Deployment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</a:defRPr>
                      </a:pPr>
                      <a:r>
                        <a:t>Docker • Kubernetes • Minikube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</a:defRPr>
                      </a:pPr>
                      <a:r>
                        <a:t>SonarQube • Trivy • OWASP ZAP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</a:defRPr>
                      </a:pPr>
                      <a:r>
                        <a:t>MLOps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</a:defRPr>
                      </a:pPr>
                      <a:r>
                        <a:t>DVC • MLflow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</a:defRPr>
                      </a:pPr>
                      <a:r>
                        <a:t>Monitoring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</a:defRPr>
                      </a:pPr>
                      <a:r>
                        <a:t>Prometheus • Grafana</a:t>
                      </a:r>
                    </a:p>
                  </a:txBody>
                  <a:tcPr marL="54864" marR="54864" marT="27432" marB="27432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720840" y="1143000"/>
            <a:ext cx="4389120" cy="502920"/>
          </a:xfrm>
          <a:prstGeom prst="roundRect">
            <a:avLst/>
          </a:prstGeom>
          <a:solidFill>
            <a:srgbClr val="182644"/>
          </a:solidFill>
          <a:ln>
            <a:solidFill>
              <a:srgbClr val="18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32A34"/>
                </a:solidFill>
              </a:rPr>
              <a:t>EXPECTED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182880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</a:defRPr>
            </a:pPr>
            <a:r>
              <a:t>Web interface for resume and job-description uploads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</a:defRPr>
            </a:pPr>
            <a:r>
              <a:t>Automated candidate ranking based on relevance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</a:defRPr>
            </a:pPr>
            <a:r>
              <a:t>Matched skills and up to 2 key skill gaps per candidate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</a:defRPr>
            </a:pPr>
            <a:r>
              <a:t>Reduced screening time and improved consistency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</a:defRPr>
            </a:pPr>
            <a:r>
              <a:t>Secure, scalable, monitored deployment</a:t>
            </a:r>
          </a:p>
          <a:p>
            <a:pPr>
              <a:spcAft>
                <a:spcPts val="800"/>
              </a:spcAft>
              <a:defRPr sz="1500">
                <a:solidFill>
                  <a:srgbClr val="232A34"/>
                </a:solidFill>
              </a:defRPr>
            </a:pPr>
            <a:r>
              <a:t>Demonstration of Agile, DevOps, DevSecOps and MLOps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5074920"/>
            <a:ext cx="4389120" cy="502920"/>
          </a:xfrm>
          <a:prstGeom prst="roundRect">
            <a:avLst/>
          </a:prstGeom>
          <a:solidFill>
            <a:srgbClr val="F2F6FC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A34"/>
                </a:solidFill>
              </a:rPr>
              <a:t>Research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562356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232A34"/>
                </a:solidFill>
              </a:defRPr>
            </a:pPr>
            <a:r>
              <a:t>Start with TF-IDF for a transparent baseline; a proposed enhancement uses GitHub-based project evidence to verify claimed skills.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84264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ASE Project •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1140</Words>
  <Application>Microsoft Office PowerPoint</Application>
  <PresentationFormat>Widescreen</PresentationFormat>
  <Paragraphs>192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Syed Musaib</cp:lastModifiedBy>
  <cp:revision>2</cp:revision>
  <dcterms:created xsi:type="dcterms:W3CDTF">2013-01-27T09:14:16Z</dcterms:created>
  <dcterms:modified xsi:type="dcterms:W3CDTF">2026-08-19T05:26:49Z</dcterms:modified>
  <cp:category/>
</cp:coreProperties>
</file>